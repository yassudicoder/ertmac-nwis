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56031">
              <a:spcAft>
                <a:spcPts val="900"/>
              </a:spcAft>
              <a:buFont typeface="Arial"/>
              <a:buChar char="•"/>
            </a:pPr>
            <a:r>
              <a:rPr sz="2000" b="1" i="0">
                <a:solidFill>
                  <a:srgbClr val="1A1D24"/>
                </a:solidFill>
                <a:latin typeface="Arial"/>
              </a:rPr>
              <a:t>Problem Statement ID</a:t>
            </a:r>
            <a:r>
              <a:rPr sz="2000" b="1" i="0">
                <a:solidFill>
                  <a:srgbClr val="2E7D32"/>
                </a:solidFill>
                <a:latin typeface="Arial"/>
              </a:rPr>
              <a:t> – </a:t>
            </a:r>
            <a:r>
              <a:rPr sz="2000" b="1" i="0">
                <a:solidFill>
                  <a:srgbClr val="C8550F"/>
                </a:solidFill>
                <a:latin typeface="Arial"/>
              </a:rPr>
              <a:t>26121</a:t>
            </a:r>
            <a:endParaRPr lang="en-US" dirty="0"/>
          </a:p>
          <a:p>
            <a:pPr marL="274320" indent="-256031">
              <a:spcAft>
                <a:spcPts val="900"/>
              </a:spcAft>
              <a:buFont typeface="Arial"/>
              <a:buChar char="•"/>
            </a:pPr>
            <a:r>
              <a:rPr sz="2000" b="1" i="0">
                <a:solidFill>
                  <a:srgbClr val="1A1D24"/>
                </a:solidFill>
                <a:latin typeface="Arial"/>
              </a:rPr>
              <a:t>Problem Statement Title</a:t>
            </a:r>
            <a:r>
              <a:rPr sz="2000" b="1" i="0">
                <a:solidFill>
                  <a:srgbClr val="2E7D32"/>
                </a:solidFill>
                <a:latin typeface="Arial"/>
              </a:rPr>
              <a:t> – </a:t>
            </a:r>
            <a:r>
              <a:rPr sz="1700" b="1" i="0">
                <a:solidFill>
                  <a:srgbClr val="C8550F"/>
                </a:solidFill>
                <a:latin typeface="Arial"/>
              </a:rPr>
              <a:t>eRTMAC-NWIS (Nearby Wells Intelligence System): An AI-Powered Offset Well Knowledge and Decision Support Platform for Drilling Operations</a:t>
            </a:r>
          </a:p>
          <a:p>
            <a:pPr marL="274320" indent="-256031">
              <a:spcAft>
                <a:spcPts val="900"/>
              </a:spcAft>
              <a:buFont typeface="Arial"/>
              <a:buChar char="•"/>
            </a:pPr>
            <a:r>
              <a:rPr sz="2000" b="1" i="0">
                <a:solidFill>
                  <a:srgbClr val="1A1D24"/>
                </a:solidFill>
                <a:latin typeface="Arial"/>
              </a:rPr>
              <a:t>Theme</a:t>
            </a:r>
            <a:r>
              <a:rPr sz="2000" b="1" i="0">
                <a:solidFill>
                  <a:srgbClr val="2E7D32"/>
                </a:solidFill>
                <a:latin typeface="Arial"/>
              </a:rPr>
              <a:t> – </a:t>
            </a:r>
            <a:r>
              <a:rPr sz="2000" b="1" i="0">
                <a:solidFill>
                  <a:srgbClr val="C8550F"/>
                </a:solidFill>
                <a:latin typeface="Arial"/>
              </a:rPr>
              <a:t>Smart Automation</a:t>
            </a:r>
          </a:p>
          <a:p>
            <a:pPr marL="274320" indent="-256031">
              <a:spcAft>
                <a:spcPts val="900"/>
              </a:spcAft>
              <a:buFont typeface="Arial"/>
              <a:buChar char="•"/>
            </a:pPr>
            <a:r>
              <a:rPr sz="2000" b="1" i="0">
                <a:solidFill>
                  <a:srgbClr val="1A1D24"/>
                </a:solidFill>
                <a:latin typeface="Arial"/>
              </a:rPr>
              <a:t>PS Category</a:t>
            </a:r>
            <a:r>
              <a:rPr sz="2000" b="1" i="0">
                <a:solidFill>
                  <a:srgbClr val="2E7D32"/>
                </a:solidFill>
                <a:latin typeface="Arial"/>
              </a:rPr>
              <a:t> – </a:t>
            </a:r>
            <a:r>
              <a:rPr sz="2000" b="1" i="0">
                <a:solidFill>
                  <a:srgbClr val="C8550F"/>
                </a:solidFill>
                <a:latin typeface="Arial"/>
              </a:rPr>
              <a:t>Software</a:t>
            </a:r>
          </a:p>
          <a:p>
            <a:pPr marL="274320" indent="-256031">
              <a:spcAft>
                <a:spcPts val="900"/>
              </a:spcAft>
              <a:buFont typeface="Arial"/>
              <a:buChar char="•"/>
            </a:pPr>
            <a:r>
              <a:rPr sz="2000" b="1" i="0">
                <a:solidFill>
                  <a:srgbClr val="1A1D24"/>
                </a:solidFill>
                <a:latin typeface="Arial"/>
              </a:rPr>
              <a:t>Team ID</a:t>
            </a:r>
            <a:r>
              <a:rPr sz="2000" b="1" i="0">
                <a:solidFill>
                  <a:srgbClr val="2E7D32"/>
                </a:solidFill>
                <a:latin typeface="Arial"/>
              </a:rPr>
              <a:t> – </a:t>
            </a:r>
            <a:r>
              <a:rPr sz="2000" b="1" i="0">
                <a:solidFill>
                  <a:srgbClr val="C0392B"/>
                </a:solidFill>
                <a:latin typeface="Arial"/>
              </a:rPr>
              <a:t>[Enter Team ID]</a:t>
            </a:r>
          </a:p>
          <a:p>
            <a:pPr marL="274320" indent="-256031">
              <a:spcAft>
                <a:spcPts val="900"/>
              </a:spcAft>
              <a:buFont typeface="Arial"/>
              <a:buChar char="•"/>
            </a:pPr>
            <a:r>
              <a:rPr sz="2000" b="1" i="0">
                <a:solidFill>
                  <a:srgbClr val="1A1D24"/>
                </a:solidFill>
                <a:latin typeface="Arial"/>
              </a:rPr>
              <a:t>Team Name (Registered on portal)</a:t>
            </a:r>
            <a:r>
              <a:rPr sz="2000" b="1" i="0">
                <a:solidFill>
                  <a:srgbClr val="2E7D32"/>
                </a:solidFill>
                <a:latin typeface="Arial"/>
              </a:rPr>
              <a:t> – </a:t>
            </a:r>
            <a:r>
              <a:rPr sz="2000" b="1" i="0">
                <a:solidFill>
                  <a:srgbClr val="C0392B"/>
                </a:solidFill>
                <a:latin typeface="Arial"/>
              </a:rPr>
              <a:t>[Enter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sz="3000" b="1">
                <a:latin typeface="Times New Roman"/>
              </a:rPr>
              <a:t>NWIS: Nearby Wells Intelligence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20040" y="1207008"/>
            <a:ext cx="5705856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Proposed Solution (Describe your Idea/Solution/Prototype)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50" b="1" i="0">
                <a:solidFill>
                  <a:srgbClr val="1A1D24"/>
                </a:solidFill>
                <a:latin typeface="Arial"/>
              </a:rPr>
              <a:t>Problem</a:t>
            </a:r>
            <a:r>
              <a:rPr sz="1150" b="0" i="0">
                <a:solidFill>
                  <a:srgbClr val="1A1D24"/>
                </a:solidFill>
                <a:latin typeface="Arial"/>
              </a:rPr>
              <a:t> – offset-well knowledge is scattered across well completion reports (WCR), daily drilling reports (DDR), mud logs, scans and memory; the nearest well is not always the relevant one; past trouble surfaces too late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50" b="1" i="0">
                <a:solidFill>
                  <a:srgbClr val="1A1D24"/>
                </a:solidFill>
                <a:latin typeface="Arial"/>
              </a:rPr>
              <a:t>Idea</a:t>
            </a:r>
            <a:r>
              <a:rPr sz="1150" b="0" i="0">
                <a:solidFill>
                  <a:srgbClr val="1A1D24"/>
                </a:solidFill>
                <a:latin typeface="Arial"/>
              </a:rPr>
              <a:t> – NWIS, a standalone AI/ML decision-support platform beside eRTMAC, turns those records into a searchable knowledge base and warns the driller before the bit reaches trouble seen in nearby wells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50" b="1" i="0">
                <a:solidFill>
                  <a:srgbClr val="1A1D24"/>
                </a:solidFill>
                <a:latin typeface="Arial"/>
              </a:rPr>
              <a:t>Prototype</a:t>
            </a:r>
            <a:r>
              <a:rPr sz="1150" b="0" i="0">
                <a:solidFill>
                  <a:srgbClr val="1A1D24"/>
                </a:solidFill>
                <a:latin typeface="Arial"/>
              </a:rPr>
              <a:t> – working end to end on a synthetic Upper Assam pilot: 61 wells, 10 fields, 180 reports, 7-screen dashboard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6135624" y="1207008"/>
            <a:ext cx="5733288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E7D32"/>
                </a:solidFill>
                <a:latin typeface="Arial"/>
              </a:rPr>
              <a:t>Detailed explanation of the proposed solution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Read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OCR + NLP pull every event from the reports: depth, formation, severity, lost time (NPT), remedial action, lessons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Remember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one knowledge base with events, lessons, casing, cement jobs, reservoir data; one search box over every event, lesson and report line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Rank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nearby wells on a map within a user-defined radius, scored on 7 factors, not distance alone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Correlate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formation tops tie each offset to this well's depth scale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Warn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look-ahead alerts for the next 300 m: risk, confidence, reasons, evidence, recommended actions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Predict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six trained hazard models and a mud-weight check for overpressure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20040" y="3785615"/>
            <a:ext cx="5705856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F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4E9E"/>
                </a:solidFill>
                <a:latin typeface="Arial"/>
              </a:rPr>
              <a:t>How it addresses the problem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Map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offset wells around the active well within a chosen radius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Instant access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offset events, lessons and mitigations, one click from the source report page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Correlation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mud losses, kicks, stuck pipe and cementing projected across wells by depth and formation; drilling parameters compared per formation; casing, cement and reservoir records for every well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Proactive alerts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before the bit reaches past trouble, refreshed as the bit advances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Prediction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mud loss, stuck pipe, kick, instability, torque &amp; drag, cementing issues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135624" y="3785615"/>
            <a:ext cx="5733288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6A1B9A"/>
                </a:solidFill>
                <a:latin typeface="Arial"/>
              </a:rPr>
              <a:t>Innovation and uniqueness of the solution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50" b="1" i="0">
                <a:solidFill>
                  <a:srgbClr val="1A1D24"/>
                </a:solidFill>
                <a:latin typeface="Arial"/>
              </a:rPr>
              <a:t>Relevance, not proximity</a:t>
            </a:r>
            <a:r>
              <a:rPr sz="1150" b="0" i="0">
                <a:solidFill>
                  <a:srgbClr val="1A1D24"/>
                </a:solidFill>
                <a:latin typeface="Arial"/>
              </a:rPr>
              <a:t> – explained 7-factor ranking engineers can re-weight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50" b="1" i="0">
                <a:solidFill>
                  <a:srgbClr val="1A1D24"/>
                </a:solidFill>
                <a:latin typeface="Arial"/>
              </a:rPr>
              <a:t>Formation-tie correlation</a:t>
            </a:r>
            <a:r>
              <a:rPr sz="1150" b="0" i="0">
                <a:solidFill>
                  <a:srgbClr val="1A1D24"/>
                </a:solidFill>
                <a:latin typeface="Arial"/>
              </a:rPr>
              <a:t> – a loss at 2,840 m in an offset is placed where this well meets the same rock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50" b="1" i="0">
                <a:solidFill>
                  <a:srgbClr val="1A1D24"/>
                </a:solidFill>
                <a:latin typeface="Arial"/>
              </a:rPr>
              <a:t>Evidence-first</a:t>
            </a:r>
            <a:r>
              <a:rPr sz="1150" b="0" i="0">
                <a:solidFill>
                  <a:srgbClr val="1A1D24"/>
                </a:solidFill>
                <a:latin typeface="Arial"/>
              </a:rPr>
              <a:t> – every offset event traces to document → page → line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50" b="1" i="0">
                <a:solidFill>
                  <a:srgbClr val="1A1D24"/>
                </a:solidFill>
                <a:latin typeface="Arial"/>
              </a:rPr>
              <a:t>Two views</a:t>
            </a:r>
            <a:r>
              <a:rPr sz="1150" b="0" i="0">
                <a:solidFill>
                  <a:srgbClr val="1A1D24"/>
                </a:solidFill>
                <a:latin typeface="Arial"/>
              </a:rPr>
              <a:t> – evidence score and trained-model probability, side by side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50" b="1" i="0">
                <a:solidFill>
                  <a:srgbClr val="1A1D24"/>
                </a:solidFill>
                <a:latin typeface="Arial"/>
              </a:rPr>
              <a:t>One vote per well</a:t>
            </a:r>
            <a:r>
              <a:rPr sz="1150" b="0" i="0">
                <a:solidFill>
                  <a:srgbClr val="1A1D24"/>
                </a:solidFill>
                <a:latin typeface="Arial"/>
              </a:rPr>
              <a:t> – an incident in WCR, DDR and mud log counts once, all citations kept</a:t>
            </a:r>
          </a:p>
          <a:p>
            <a:pPr algn="l" marL="155448" indent="-137160">
              <a:spcAft>
                <a:spcPts val="300"/>
              </a:spcAft>
              <a:buFont typeface="Arial"/>
              <a:buChar char="•"/>
            </a:pPr>
            <a:r>
              <a:rPr sz="1150" b="1" i="0">
                <a:solidFill>
                  <a:srgbClr val="1A1D24"/>
                </a:solidFill>
                <a:latin typeface="Arial"/>
              </a:rPr>
              <a:t>Crew-proven actions first</a:t>
            </a:r>
            <a:r>
              <a:rPr sz="1150" b="0" i="0">
                <a:solidFill>
                  <a:srgbClr val="1A1D24"/>
                </a:solidFill>
                <a:latin typeface="Arial"/>
              </a:rPr>
              <a:t> – recommendations lead with what offset crews actually did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207008"/>
            <a:ext cx="4069080" cy="3127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F2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2A63"/>
                </a:solidFill>
                <a:latin typeface="Arial"/>
              </a:rPr>
              <a:t>Technologies to be used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1" i="0">
                <a:solidFill>
                  <a:srgbClr val="1A1D24"/>
                </a:solidFill>
                <a:latin typeface="Arial"/>
              </a:rPr>
              <a:t>Frontend</a:t>
            </a:r>
            <a:r>
              <a:rPr sz="950" b="0" i="0">
                <a:solidFill>
                  <a:srgbClr val="1A1D24"/>
                </a:solidFill>
                <a:latin typeface="Arial"/>
              </a:rPr>
              <a:t> – React 18, Vite, Tailwind CSS, Leaflet maps (OpenStreetMap)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1" i="0">
                <a:solidFill>
                  <a:srgbClr val="1A1D24"/>
                </a:solidFill>
                <a:latin typeface="Arial"/>
              </a:rPr>
              <a:t>Backend / API</a:t>
            </a:r>
            <a:r>
              <a:rPr sz="950" b="0" i="0">
                <a:solidFill>
                  <a:srgbClr val="1A1D24"/>
                </a:solidFill>
                <a:latin typeface="Arial"/>
              </a:rPr>
              <a:t> – Python 3.11+, FastAPI, Uvicorn, Server-Sent Events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1" i="0">
                <a:solidFill>
                  <a:srgbClr val="1A1D24"/>
                </a:solidFill>
                <a:latin typeface="Arial"/>
              </a:rPr>
              <a:t>Data &amp; search</a:t>
            </a:r>
            <a:r>
              <a:rPr sz="950" b="0" i="0">
                <a:solidFill>
                  <a:srgbClr val="1A1D24"/>
                </a:solidFill>
                <a:latin typeface="Arial"/>
              </a:rPr>
              <a:t> – SQLite with FTS5 (BM25); PostgreSQL + PostGIS in production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1" i="0">
                <a:solidFill>
                  <a:srgbClr val="1A1D24"/>
                </a:solidFill>
                <a:latin typeface="Arial"/>
              </a:rPr>
              <a:t>AI / ML / NLP</a:t>
            </a:r>
            <a:r>
              <a:rPr sz="950" b="0" i="0">
                <a:solidFill>
                  <a:srgbClr val="1A1D24"/>
                </a:solidFill>
                <a:latin typeface="Arial"/>
              </a:rPr>
              <a:t> – rule-based NLP extraction, logistic-regression hazard models, OCR (Tesseract + PyMuPDF)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1" i="0">
                <a:solidFill>
                  <a:srgbClr val="1A1D24"/>
                </a:solidFill>
                <a:latin typeface="Arial"/>
              </a:rPr>
              <a:t>Analytics</a:t>
            </a:r>
            <a:r>
              <a:rPr sz="950" b="0" i="0">
                <a:solidFill>
                  <a:srgbClr val="1A1D24"/>
                </a:solidFill>
                <a:latin typeface="Arial"/>
              </a:rPr>
              <a:t> – geo-distance, formation-tie correlation, trend detection, hazard clustering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1" i="0">
                <a:solidFill>
                  <a:srgbClr val="1A1D24"/>
                </a:solidFill>
                <a:latin typeface="Arial"/>
              </a:rPr>
              <a:t>DevOps</a:t>
            </a:r>
            <a:r>
              <a:rPr sz="950" b="0" i="0">
                <a:solidFill>
                  <a:srgbClr val="1A1D24"/>
                </a:solidFill>
                <a:latin typeface="Arial"/>
              </a:rPr>
              <a:t> – Docker, Git/GitHub, 39 automated tests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1" i="0">
                <a:solidFill>
                  <a:srgbClr val="1A1D24"/>
                </a:solidFill>
                <a:latin typeface="Arial"/>
              </a:rPr>
              <a:t>Integration</a:t>
            </a:r>
            <a:r>
              <a:rPr sz="950" b="0" i="0">
                <a:solidFill>
                  <a:srgbClr val="1A1D24"/>
                </a:solidFill>
                <a:latin typeface="Arial"/>
              </a:rPr>
              <a:t> – WITSML / eRTMAC connector (simulated feed in prototype)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4443984"/>
            <a:ext cx="4069080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C85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C8550F"/>
                </a:solidFill>
                <a:latin typeface="Arial"/>
              </a:rPr>
              <a:t>How NWIS decides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1" i="0">
                <a:solidFill>
                  <a:srgbClr val="1A1D24"/>
                </a:solidFill>
                <a:latin typeface="Arial"/>
              </a:rPr>
              <a:t>Relevance</a:t>
            </a:r>
            <a:r>
              <a:rPr sz="950" b="0" i="0">
                <a:solidFill>
                  <a:srgbClr val="1A1D24"/>
                </a:solidFill>
                <a:latin typeface="Arial"/>
              </a:rPr>
              <a:t> – geology 26%, proximity 18%, experience 15%, depth 14%, parameters 12%, trajectory 10%, recency 5%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1" i="0">
                <a:solidFill>
                  <a:srgbClr val="1A1D24"/>
                </a:solidFill>
                <a:latin typeface="Arial"/>
              </a:rPr>
              <a:t>Risk</a:t>
            </a:r>
            <a:r>
              <a:rPr sz="950" b="0" i="0">
                <a:solidFill>
                  <a:srgbClr val="1A1D24"/>
                </a:solidFill>
                <a:latin typeface="Arial"/>
              </a:rPr>
              <a:t> – recurrence × severity × depth agreement; confidence shown separately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1" i="0">
                <a:solidFill>
                  <a:srgbClr val="1A1D24"/>
                </a:solidFill>
                <a:latin typeface="Arial"/>
              </a:rPr>
              <a:t>Models</a:t>
            </a:r>
            <a:r>
              <a:rPr sz="950" b="0" i="0">
                <a:solidFill>
                  <a:srgbClr val="1A1D24"/>
                </a:solidFill>
                <a:latin typeface="Arial"/>
              </a:rPr>
              <a:t> – leave-one-well-out AUC 0.82–0.93 (synthetic pilot)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498848" y="1207008"/>
            <a:ext cx="7370064" cy="5047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695C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pic>
        <p:nvPicPr>
          <p:cNvPr id="17413" name="Picture 17412" descr="nwis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1572768"/>
            <a:ext cx="7187184" cy="4042791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4608576" y="5660136"/>
            <a:ext cx="7168896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1A1D24"/>
                </a:solidFill>
                <a:latin typeface="Arial"/>
              </a:rPr>
              <a:t>Working prototype: </a:t>
            </a:r>
            <a:r>
              <a:rPr sz="900" b="0" i="0">
                <a:solidFill>
                  <a:srgbClr val="1A1D24"/>
                </a:solidFill>
                <a:latin typeface="Arial"/>
              </a:rPr>
              <a:t>github.com/yassudicoder/eRTMAC-NWIS · reports → OCR/NLP → cited events → knowledge base → ranked offsets → formation-tie correlation → look-ahead risk + ML → dashboard and REST/SSE API for eRTMAC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207008"/>
            <a:ext cx="4526280" cy="5047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E7D32"/>
                </a:solidFill>
                <a:latin typeface="Arial"/>
              </a:rPr>
              <a:t>Analysis of the feasibility of the idea</a:t>
            </a:r>
          </a:p>
          <a:p>
            <a:pPr algn="l" marL="155448" indent="-137160">
              <a:spcAft>
                <a:spcPts val="5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Works today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reports to cited alerts end to end; 7-screen dashboard, REST API, 39 passing tests</a:t>
            </a:r>
          </a:p>
          <a:p>
            <a:pPr algn="l" marL="155448" indent="-137160">
              <a:spcAft>
                <a:spcPts val="5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Pilot data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synthetic Upper Assam: 61 wells, 10 fields, 180 reports; 1,284 mentions merged into 547 cited events</a:t>
            </a:r>
          </a:p>
          <a:p>
            <a:pPr algn="l" marL="155448" indent="-137160">
              <a:spcAft>
                <a:spcPts val="5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Measured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extraction precision 100%, recall 99.1%; model AUC 0.82–0.93 on unseen wells (synthetic data; real accuracy measured in the pilot)</a:t>
            </a:r>
          </a:p>
          <a:p>
            <a:pPr algn="l" marL="155448" indent="-137160">
              <a:spcAft>
                <a:spcPts val="5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Data exists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OIL has 3,000+ wells of history [1]; WCRs, DDRs, mud logs and eRTMAC feeds are recorded today</a:t>
            </a:r>
          </a:p>
          <a:p>
            <a:pPr algn="l" marL="155448" indent="-137160">
              <a:spcAft>
                <a:spcPts val="5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Proven payoff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offset-driven planning saved 15 rig days on a deep well in NE India [3]</a:t>
            </a:r>
          </a:p>
          <a:p>
            <a:pPr algn="l" marL="155448" indent="-137160">
              <a:spcAft>
                <a:spcPts val="5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Low cost, sustainable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open-source stack on OIL's own servers; OIL owns the knowledge base; models retrain as wells are drilled</a:t>
            </a:r>
          </a:p>
          <a:p>
            <a:pPr algn="l" marL="155448" indent="-137160">
              <a:spcAft>
                <a:spcPts val="5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Roadmap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Prototype (done) → Pilot on one Upper Assam structure with real data + eRTMAC (3–6 months) → all OIL areas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4956048" y="1207008"/>
          <a:ext cx="6912863" cy="5047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69663"/>
              </a:tblGrid>
              <a:tr h="41148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66228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D24"/>
                          </a:solidFill>
                          <a:latin typeface="Arial"/>
                        </a:rPr>
                        <a:t>Scattered, inconsistent, scanned records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D24"/>
                          </a:solidFill>
                          <a:latin typeface="Arial"/>
                        </a:rPr>
                        <a:t>OCR + NLP with confidence scores; low-confidence items flagged for review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66228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D24"/>
                          </a:solidFill>
                          <a:latin typeface="Arial"/>
                        </a:rPr>
                        <a:t>Nearest well may not be relevant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D24"/>
                          </a:solidFill>
                          <a:latin typeface="Arial"/>
                        </a:rPr>
                        <a:t>Explained 7-factor relevance with adjustable weights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6228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D24"/>
                          </a:solidFill>
                          <a:latin typeface="Arial"/>
                        </a:rPr>
                        <a:t>Same formation at different depths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D24"/>
                          </a:solidFill>
                          <a:latin typeface="Arial"/>
                        </a:rPr>
                        <a:t>Formation-tie correlation with a tie-quality score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66228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D24"/>
                          </a:solidFill>
                          <a:latin typeface="Arial"/>
                        </a:rPr>
                        <a:t>Wrong or invented AI output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D24"/>
                          </a:solidFill>
                          <a:latin typeface="Arial"/>
                        </a:rPr>
                        <a:t>Every event cited to page and line; confidence shown apart from risk; model accuracy published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6228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D24"/>
                          </a:solidFill>
                          <a:latin typeface="Arial"/>
                        </a:rPr>
                        <a:t>No live eRTMAC access in the prototype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D24"/>
                          </a:solidFill>
                          <a:latin typeface="Arial"/>
                        </a:rPr>
                        <a:t>Simulated real-time connector; swap in a WITSML / eRTMAC client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  <a:tr h="66228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D24"/>
                          </a:solidFill>
                          <a:latin typeface="Arial"/>
                        </a:rPr>
                        <a:t>Proprietary, sensitive 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D24"/>
                          </a:solidFill>
                          <a:latin typeface="Arial"/>
                        </a:rPr>
                        <a:t>Synthetic data for the prototype; on-premise deployment with role-based access and encryption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62286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D24"/>
                          </a:solidFill>
                          <a:latin typeface="Arial"/>
                        </a:rPr>
                        <a:t>Few offsets drilled a formation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D24"/>
                          </a:solidFill>
                          <a:latin typeface="Arial"/>
                        </a:rPr>
                        <a:t>Each alert states how many wells support it; single-well evidence is flagged</a:t>
                      </a:r>
                    </a:p>
                  </a:txBody>
                  <a:tcPr marL="73152" marR="73152" marT="36576" marB="36576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207008"/>
            <a:ext cx="580644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F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4E9E"/>
                </a:solidFill>
                <a:latin typeface="Arial"/>
              </a:rPr>
              <a:t>Potential impact on the target audience</a:t>
            </a:r>
          </a:p>
          <a:p>
            <a:pPr algn="l" marL="155448" indent="-137160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Drilling engineers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relevant offset experience and risk warnings in seconds, before the bit reaches the interval</a:t>
            </a:r>
          </a:p>
          <a:p>
            <a:pPr algn="l" marL="155448" indent="-137160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Geologists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automatic cross-well correlation and formation-wise event history</a:t>
            </a:r>
          </a:p>
          <a:p>
            <a:pPr algn="l" marL="155448" indent="-137160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Rig &amp; operations teams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fewer surprises, crew-proven mitigation steps, less non-productive time</a:t>
            </a:r>
          </a:p>
          <a:p>
            <a:pPr algn="l" marL="155448" indent="-137160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OIL management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recurring hazard zones and lost time by hazard and formation; knowledge retained when people move on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3648456"/>
            <a:ext cx="580644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E7D32"/>
                </a:solidFill>
                <a:latin typeface="Arial"/>
              </a:rPr>
              <a:t>Benefits of the solution (social, economic, environmental, etc.)</a:t>
            </a:r>
          </a:p>
          <a:p>
            <a:pPr algn="l" marL="155448" indent="-137160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Economic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cuts avoidable NPT; better casing, mud and cement design from past lessons; lower well cost</a:t>
            </a:r>
          </a:p>
          <a:p>
            <a:pPr algn="l" marL="155448" indent="-137160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Safety &amp; social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earlier warning of well-control risk; knowledge shared across teams and generations</a:t>
            </a:r>
          </a:p>
          <a:p>
            <a:pPr algn="l" marL="155448" indent="-137160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Environmental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fewer well-control incidents, less drilling fluid lost to formations, fewer sidetracks and re-drills</a:t>
            </a:r>
          </a:p>
          <a:p>
            <a:pPr algn="l" marL="155448" indent="-137160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1A1D24"/>
                </a:solidFill>
                <a:latin typeface="Arial"/>
              </a:rPr>
              <a:t>National</a:t>
            </a:r>
            <a:r>
              <a:rPr sz="1100" b="0" i="0">
                <a:solidFill>
                  <a:srgbClr val="1A1D24"/>
                </a:solidFill>
                <a:latin typeface="Arial"/>
              </a:rPr>
              <a:t> – India imported 88.7% of its crude oil in 2025-26 (provisional) [9]; safer, faster domestic drilling supports energy security, Atmanirbhar Bharat and Viksit Bharat 2047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36208" y="1207008"/>
            <a:ext cx="5632704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C85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C8550F"/>
                </a:solidFill>
                <a:latin typeface="Arial"/>
              </a:rPr>
              <a:t>Why it matters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1A1D24"/>
                </a:solidFill>
                <a:latin typeface="Arial"/>
              </a:rPr>
              <a:t>In the Netherlands, an estimated 20% of drilling time goes to recovering from unexpected, potentially avoidable incidents [4]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1A1D24"/>
                </a:solidFill>
                <a:latin typeface="Arial"/>
              </a:rPr>
              <a:t>Stuck pipe and borehole problems: over 24% of NPT in one operator's shaly formations [5]; lost circulation about 12% of NPT, USD 1–2 billion a year [6][7]</a:t>
            </a:r>
          </a:p>
          <a:p>
            <a:pPr algn="l" marL="155448" indent="-137160">
              <a:spcAft>
                <a:spcPts val="200"/>
              </a:spcAft>
              <a:buFont typeface="Arial"/>
              <a:buChar char="•"/>
            </a:pPr>
            <a:r>
              <a:rPr sz="950" b="0" i="0">
                <a:solidFill>
                  <a:srgbClr val="1A1D24"/>
                </a:solidFill>
                <a:latin typeface="Arial"/>
              </a:rPr>
              <a:t>Overpressure mapped in the Barail and Kopili of the upper Assam Shelf [8]</a:t>
            </a:r>
          </a:p>
        </p:txBody>
      </p:sp>
      <p:pic>
        <p:nvPicPr>
          <p:cNvPr id="17413" name="Picture 17412" descr="04-alert-evidence-and-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990088"/>
            <a:ext cx="5084064" cy="3086753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236208" y="6099048"/>
            <a:ext cx="5632704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1">
                <a:solidFill>
                  <a:srgbClr val="555E70"/>
                </a:solidFill>
                <a:latin typeface="Arial"/>
              </a:rPr>
              <a:t>Prototype: a stuck-pipe alert with offset evidence and the model's second opinion (synthetic pilot data)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207008"/>
            <a:ext cx="115488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F2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2A63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572768"/>
            <a:ext cx="5623560" cy="4114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[1] Oil India Limited, Drilling (official website) – oil-india.com/drilling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[2] Oil India Limited, Integrated Annual Report 2025-26 – oil-india.com (financial results)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[3] Bhardwaj et al., Deep wells aided by geomechanics and real-time decisions, NE India, SPE-200627-MS, 2020 – onepetro.org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[4] Hoetz, Jaarsma &amp; Kortekaas, Drilling Hazards Inventory, SPE-166254-MS, 2013 – onepetro.org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[5] Aljubran, Al-Yami &amp; Madan, Preventing stuck pipe in offshore shaly formations, SPE-183717-MS, 2017 – onepetro.org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[6] Arshad et al., Lost circulation in Rumaila field, IPTC-18245-MS, 2015 – onepetro.org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[7] Omer et al., Curing dynamic losses with self-degradable LCM, SPE-219656-MS, 2024 – onepetro.org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[8] Rai, Singha &amp; Chatterjee, 3D pore pressure and overpressure, upper Assam Shelf, Acta Geophysica 70, 2022 – doi.org/10.1007/s11600-022-00771-1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[9] PPAC (MoPNG), India's Oil &amp; Gas Ready Reckoner FY 2025-26 – ppac.gov.in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217920" y="1572768"/>
            <a:ext cx="5532120" cy="4114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[10] Krygier et al., NPT due to well stability issues (93 wells), SPE-200732-MS, 2020 – onepetro.org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[11] Selveindran et al., Automated offset well analysis, SPE-201590-MS, 2020 – onepetro.org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[12] Parmar et al., Risk assessment of offset wells using cognitive analysis, IPTC-24705-MS, 2025 – onepetro.org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[13] Hoffimann et al., Deep NLP on drilling reports, SPE-191505-MS, 2018 – arxiv.org/abs/1712.01476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[14] Guillot et al., ML prediction of lost circulation at well planning, OTC-34764-MS, 2024 – onepetro.org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[15] DGH National Data Repository, Assam Arakan Basin – ndrdgh.gov.in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[16] Wandrey, Sylhet-Kopili/Barail-Tipam petroleum system, USGS Bulletin 2208-D, 2004 – pubs.usgs.gov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[17] Energistics, WITSML data standards – energistics.org/witsml-data-standards</a:t>
            </a:r>
          </a:p>
          <a:p>
            <a:pPr marL="155448" indent="-137160">
              <a:spcAft>
                <a:spcPts val="300"/>
              </a:spcAft>
              <a:buFont typeface="Arial"/>
              <a:buChar char="•"/>
            </a:pPr>
            <a:r>
              <a:rPr sz="1000" b="0" i="0">
                <a:solidFill>
                  <a:srgbClr val="1A1D24"/>
                </a:solidFill>
                <a:latin typeface="Arial"/>
              </a:rPr>
              <a:t>[18] Docs: FastAPI (fastapi.tiangolo.com), SQLite FTS5 (sqlite.org/fts5.html), Tesseract OCR, PostGIS ST_DWithin, Leaflet (leafletjs.com)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0040" y="5815584"/>
            <a:ext cx="11548872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695C"/>
                </a:solidFill>
                <a:latin typeface="Arial"/>
              </a:rPr>
              <a:t>Prototype &amp; code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2011680" y="5888736"/>
            <a:ext cx="978408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1A1D24"/>
                </a:solidFill>
                <a:latin typeface="Arial"/>
              </a:rPr>
              <a:t>github.com/yassudicoder/eRTMAC-NWIS</a:t>
            </a:r>
            <a:r>
              <a:rPr sz="1000" b="0" i="0">
                <a:solidFill>
                  <a:srgbClr val="1A1D24"/>
                </a:solidFill>
                <a:latin typeface="Arial"/>
              </a:rPr>
              <a:t>  ·  FastAPI + React dashboard  ·  synthetic Upper Assam dataset (no OIL data used)  ·  39 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